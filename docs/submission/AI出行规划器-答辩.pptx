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3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968496"/>
            <a:ext cx="12191695" cy="26000"/>
          </a:xfrm>
          <a:prstGeom prst="rect">
            <a:avLst/>
          </a:prstGeom>
          <a:solidFill>
            <a:srgbClr val="2C5F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170432"/>
            <a:ext cx="1054577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300" b="1">
                <a:solidFill>
                  <a:srgbClr val="A9C3DC"/>
                </a:solidFill>
                <a:latin typeface="微软雅黑"/>
              </a:rPr>
              <a:t>《AI 大模型及其运用》课程项目 · 成果汇报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700784"/>
            <a:ext cx="10545775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5200" b="1">
                <a:solidFill>
                  <a:srgbClr val="FFFFFF"/>
                </a:solidFill>
                <a:latin typeface="微软雅黑"/>
              </a:rPr>
              <a:t>AI 日常出行规划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670048"/>
            <a:ext cx="10545775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5200" b="1">
                <a:solidFill>
                  <a:srgbClr val="FFFFFF"/>
                </a:solidFill>
                <a:latin typeface="微软雅黑"/>
              </a:rPr>
              <a:t>与行程调整助手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315968"/>
            <a:ext cx="1054577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400"/>
              </a:spcAft>
            </a:pPr>
            <a:r>
              <a:rPr sz="1600" b="0">
                <a:solidFill>
                  <a:srgbClr val="D6E3F0"/>
                </a:solidFill>
                <a:latin typeface="微软雅黑"/>
              </a:rPr>
              <a:t>一句话说清今天要做什么 → 守住时间、预算、开关门的行程 → 随时能改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815584"/>
            <a:ext cx="1054577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200" b="0">
                <a:solidFill>
                  <a:srgbClr val="A9C3DC"/>
                </a:solidFill>
                <a:latin typeface="微软雅黑"/>
              </a:rPr>
              <a:t>场景：日常出行（校园生活圈 46 个点） ｜ 小组 2 人 ｜ 2026-10-30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20624"/>
            <a:ext cx="1054577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100" b="1">
                <a:solidFill>
                  <a:srgbClr val="C2410C"/>
                </a:solidFill>
                <a:latin typeface="微软雅黑"/>
              </a:rPr>
              <a:t>01 问题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658368"/>
            <a:ext cx="1054577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2700" b="1">
                <a:solidFill>
                  <a:srgbClr val="14385C"/>
                </a:solidFill>
                <a:latin typeface="微软雅黑"/>
              </a:rPr>
              <a:t>真实问题不是「去哪玩」，而是「今天怎么过」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188720"/>
            <a:ext cx="1054577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300" b="0">
                <a:solidFill>
                  <a:srgbClr val="5B6B7C"/>
                </a:solidFill>
                <a:latin typeface="微软雅黑"/>
              </a:rPr>
              <a:t>学生的日常出行是一串必须做完的琐事，且每个点都有开关门时间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481328"/>
            <a:ext cx="10545775" cy="12000"/>
          </a:xfrm>
          <a:prstGeom prst="rect">
            <a:avLst/>
          </a:prstGeom>
          <a:solidFill>
            <a:srgbClr val="D7DE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6272784"/>
            <a:ext cx="10545775" cy="10000"/>
          </a:xfrm>
          <a:prstGeom prst="rect">
            <a:avLst/>
          </a:prstGeom>
          <a:solidFill>
            <a:srgbClr val="D7DE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638251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000" b="0">
                <a:solidFill>
                  <a:srgbClr val="5B6B7C"/>
                </a:solidFill>
                <a:latin typeface="微软雅黑"/>
              </a:rPr>
              <a:t>AI 出行规划与行程调整助手 · 大连理工大学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88575" y="6382512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5000"/>
              </a:lnSpc>
              <a:spcAft>
                <a:spcPts val="400"/>
              </a:spcAft>
            </a:pPr>
            <a:r>
              <a:rPr sz="1000" b="0">
                <a:solidFill>
                  <a:srgbClr val="5B6B7C"/>
                </a:solidFill>
                <a:latin typeface="微软雅黑"/>
              </a:rPr>
              <a:t>02 / 12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1700784"/>
            <a:ext cx="10545775" cy="932688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2960" y="1700784"/>
            <a:ext cx="30000" cy="932688"/>
          </a:xfrm>
          <a:prstGeom prst="rect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78992" y="1883664"/>
            <a:ext cx="1008857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2000" b="1">
                <a:solidFill>
                  <a:srgbClr val="14385C"/>
                </a:solidFill>
                <a:latin typeface="微软雅黑"/>
              </a:rPr>
              <a:t>「上午去图书馆自习，中午食堂吃饭，顺便取快递，别太赶」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2907792"/>
            <a:ext cx="2542032" cy="1481328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3054096"/>
            <a:ext cx="221284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300" b="1">
                <a:solidFill>
                  <a:srgbClr val="C2410C"/>
                </a:solidFill>
                <a:latin typeface="微软雅黑"/>
              </a:rPr>
              <a:t>目的地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3346704"/>
            <a:ext cx="221284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400"/>
              </a:spcAft>
            </a:pPr>
            <a:r>
              <a:rPr sz="1200" b="0">
                <a:solidFill>
                  <a:srgbClr val="1F2937"/>
                </a:solidFill>
                <a:latin typeface="微软雅黑"/>
              </a:rPr>
              <a:t>图书馆 / 食堂 / 快递点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3986784"/>
            <a:ext cx="221284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000" b="0">
                <a:solidFill>
                  <a:srgbClr val="5B6B7C"/>
                </a:solidFill>
                <a:latin typeface="微软雅黑"/>
              </a:rPr>
              <a:t>→ 兴趣标签匹配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566160" y="2907792"/>
            <a:ext cx="2542032" cy="1481328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49040" y="3054096"/>
            <a:ext cx="221284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300" b="1">
                <a:solidFill>
                  <a:srgbClr val="C2410C"/>
                </a:solidFill>
                <a:latin typeface="微软雅黑"/>
              </a:rPr>
              <a:t>先后偏好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49040" y="3346704"/>
            <a:ext cx="221284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400"/>
              </a:spcAft>
            </a:pPr>
            <a:r>
              <a:rPr sz="1200" b="0">
                <a:solidFill>
                  <a:srgbClr val="1F2937"/>
                </a:solidFill>
                <a:latin typeface="微软雅黑"/>
              </a:rPr>
              <a:t>「顺便」= 顺路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49040" y="3986784"/>
            <a:ext cx="221284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000" b="0">
                <a:solidFill>
                  <a:srgbClr val="5B6B7C"/>
                </a:solidFill>
                <a:latin typeface="微软雅黑"/>
              </a:rPr>
              <a:t>→ 途经点强制顺序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09360" y="2907792"/>
            <a:ext cx="2542032" cy="1481328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92240" y="3054096"/>
            <a:ext cx="221284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300" b="1">
                <a:solidFill>
                  <a:srgbClr val="C2410C"/>
                </a:solidFill>
                <a:latin typeface="微软雅黑"/>
              </a:rPr>
              <a:t>软约束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0" y="3346704"/>
            <a:ext cx="221284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400"/>
              </a:spcAft>
            </a:pPr>
            <a:r>
              <a:rPr sz="1200" b="0">
                <a:solidFill>
                  <a:srgbClr val="1F2937"/>
                </a:solidFill>
                <a:latin typeface="微软雅黑"/>
              </a:rPr>
              <a:t>「别太赶」= 每天少两站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3986784"/>
            <a:ext cx="221284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000" b="0">
                <a:solidFill>
                  <a:srgbClr val="5B6B7C"/>
                </a:solidFill>
                <a:latin typeface="微软雅黑"/>
              </a:rPr>
              <a:t>→ 节奏 → 站数系数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052560" y="2907792"/>
            <a:ext cx="2542032" cy="1481328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235440" y="3054096"/>
            <a:ext cx="221284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300" b="1">
                <a:solidFill>
                  <a:srgbClr val="C2410C"/>
                </a:solidFill>
                <a:latin typeface="微软雅黑"/>
              </a:rPr>
              <a:t>隐含硬约束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35440" y="3346704"/>
            <a:ext cx="221284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400"/>
              </a:spcAft>
            </a:pPr>
            <a:r>
              <a:rPr sz="1200" b="0">
                <a:solidFill>
                  <a:srgbClr val="1F2937"/>
                </a:solidFill>
                <a:latin typeface="微软雅黑"/>
              </a:rPr>
              <a:t>07:30 开门、19:30 关门、周一闭馆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35440" y="3986784"/>
            <a:ext cx="221284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000" b="0">
                <a:solidFill>
                  <a:srgbClr val="5B6B7C"/>
                </a:solidFill>
                <a:latin typeface="微软雅黑"/>
              </a:rPr>
              <a:t>→ 关门就跳过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" y="4645152"/>
            <a:ext cx="1054577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60000"/>
              </a:lnSpc>
              <a:spcAft>
                <a:spcPts val="400"/>
              </a:spcAft>
            </a:pPr>
            <a:r>
              <a:rPr sz="1500" b="0">
                <a:solidFill>
                  <a:srgbClr val="1F2937"/>
                </a:solidFill>
                <a:latin typeface="微软雅黑"/>
              </a:rPr>
              <a:t>人手排这个不是算不出来，是</a:t>
            </a:r>
          </a:p>
          <a:p>
            <a:pPr algn="l">
              <a:lnSpc>
                <a:spcPct val="160000"/>
              </a:lnSpc>
              <a:spcAft>
                <a:spcPts val="400"/>
              </a:spcAft>
            </a:pPr>
            <a:r>
              <a:rPr sz="1500" b="1">
                <a:solidFill>
                  <a:srgbClr val="C2410C"/>
                </a:solidFill>
                <a:latin typeface="微软雅黑"/>
              </a:rPr>
              <a:t>算不完</a:t>
            </a:r>
          </a:p>
          <a:p>
            <a:pPr algn="l">
              <a:lnSpc>
                <a:spcPct val="160000"/>
              </a:lnSpc>
              <a:spcAft>
                <a:spcPts val="400"/>
              </a:spcAft>
            </a:pPr>
            <a:r>
              <a:rPr sz="1500" b="0">
                <a:solidFill>
                  <a:srgbClr val="1F2937"/>
                </a:solidFill>
                <a:latin typeface="微软雅黑"/>
              </a:rPr>
              <a:t>：46 个点的开关门、30 多个点对的步速、预算、还有「别太赶」；而只要有人说一句「第 2 站太贵了」，就得重排一遍。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20624"/>
            <a:ext cx="1054577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100" b="1">
                <a:solidFill>
                  <a:srgbClr val="C2410C"/>
                </a:solidFill>
                <a:latin typeface="微软雅黑"/>
              </a:rPr>
              <a:t>02 场景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658368"/>
            <a:ext cx="1054577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2700" b="1">
                <a:solidFill>
                  <a:srgbClr val="14385C"/>
                </a:solidFill>
                <a:latin typeface="微软雅黑"/>
              </a:rPr>
              <a:t>场景与数据：一个校园生活圈，五套可切换的情形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188720"/>
            <a:ext cx="1054577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300" b="0">
                <a:solidFill>
                  <a:srgbClr val="5B6B7C"/>
                </a:solidFill>
                <a:latin typeface="微软雅黑"/>
              </a:rPr>
              <a:t>数据全部外置成 CSV 与 TOML，代码里不出现任何业务数值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481328"/>
            <a:ext cx="10545775" cy="12000"/>
          </a:xfrm>
          <a:prstGeom prst="rect">
            <a:avLst/>
          </a:prstGeom>
          <a:solidFill>
            <a:srgbClr val="D7DE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6272784"/>
            <a:ext cx="10545775" cy="10000"/>
          </a:xfrm>
          <a:prstGeom prst="rect">
            <a:avLst/>
          </a:prstGeom>
          <a:solidFill>
            <a:srgbClr val="D7DE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638251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000" b="0">
                <a:solidFill>
                  <a:srgbClr val="5B6B7C"/>
                </a:solidFill>
                <a:latin typeface="微软雅黑"/>
              </a:rPr>
              <a:t>AI 出行规划与行程调整助手 · 大连理工大学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88575" y="6382512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5000"/>
              </a:lnSpc>
              <a:spcAft>
                <a:spcPts val="400"/>
              </a:spcAft>
            </a:pPr>
            <a:r>
              <a:rPr sz="1000" b="0">
                <a:solidFill>
                  <a:srgbClr val="5B6B7C"/>
                </a:solidFill>
                <a:latin typeface="微软雅黑"/>
              </a:rPr>
              <a:t>03 / 12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1700784"/>
            <a:ext cx="2615184" cy="1298448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42416" y="1865376"/>
            <a:ext cx="224942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3000" b="1">
                <a:solidFill>
                  <a:srgbClr val="14385C"/>
                </a:solidFill>
                <a:latin typeface="微软雅黑"/>
              </a:rPr>
              <a:t>46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42416" y="2432304"/>
            <a:ext cx="224942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200" b="1">
                <a:solidFill>
                  <a:srgbClr val="1F2937"/>
                </a:solidFill>
                <a:latin typeface="微软雅黑"/>
              </a:rPr>
              <a:t>个生活圈站点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42416" y="2670048"/>
            <a:ext cx="224942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000" b="0">
                <a:solidFill>
                  <a:srgbClr val="5B6B7C"/>
                </a:solidFill>
                <a:latin typeface="微软雅黑"/>
              </a:rPr>
              <a:t>教学楼 / 食堂 / 快递 / 校医院…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0" y="1700784"/>
            <a:ext cx="2615184" cy="1298448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877056" y="1865376"/>
            <a:ext cx="224942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3000" b="1">
                <a:solidFill>
                  <a:srgbClr val="14385C"/>
                </a:solidFill>
                <a:latin typeface="微软雅黑"/>
              </a:rPr>
              <a:t>145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77056" y="2432304"/>
            <a:ext cx="224942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200" b="1">
                <a:solidFill>
                  <a:srgbClr val="1F2937"/>
                </a:solidFill>
                <a:latin typeface="微软雅黑"/>
              </a:rPr>
              <a:t>条真实步行耗时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77056" y="2670048"/>
            <a:ext cx="224942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000" b="0">
                <a:solidFill>
                  <a:srgbClr val="5B6B7C"/>
                </a:solidFill>
                <a:latin typeface="微软雅黑"/>
              </a:rPr>
              <a:t>高德 API 实测，运行期零联网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92240" y="1700784"/>
            <a:ext cx="2615184" cy="1298448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711696" y="1865376"/>
            <a:ext cx="224942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3000" b="1">
                <a:solidFill>
                  <a:srgbClr val="14385C"/>
                </a:solidFill>
                <a:latin typeface="微软雅黑"/>
              </a:rP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11696" y="2432304"/>
            <a:ext cx="224942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200" b="1">
                <a:solidFill>
                  <a:srgbClr val="1F2937"/>
                </a:solidFill>
                <a:latin typeface="微软雅黑"/>
              </a:rPr>
              <a:t>套场景配置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11696" y="2670048"/>
            <a:ext cx="224942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000" b="0">
                <a:solidFill>
                  <a:srgbClr val="5B6B7C"/>
                </a:solidFill>
                <a:latin typeface="微软雅黑"/>
              </a:rPr>
              <a:t>daily / commute / errand…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326880" y="1700784"/>
            <a:ext cx="2862072" cy="1298448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546336" y="1865376"/>
            <a:ext cx="249631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3000" b="1">
                <a:solidFill>
                  <a:srgbClr val="14385C"/>
                </a:solidFill>
                <a:latin typeface="微软雅黑"/>
              </a:rPr>
              <a:t>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546336" y="2432304"/>
            <a:ext cx="2496312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200" b="1">
                <a:solidFill>
                  <a:srgbClr val="1F2937"/>
                </a:solidFill>
                <a:latin typeface="微软雅黑"/>
              </a:rPr>
              <a:t>种日常情形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546336" y="2670048"/>
            <a:ext cx="2496312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000" b="0">
                <a:solidFill>
                  <a:srgbClr val="5B6B7C"/>
                </a:solidFill>
                <a:latin typeface="微软雅黑"/>
              </a:rPr>
              <a:t>含雨天、赶时间、办事日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3328416"/>
            <a:ext cx="10545775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400" b="1">
                <a:solidFill>
                  <a:srgbClr val="14385C"/>
                </a:solidFill>
                <a:latin typeface="微软雅黑"/>
              </a:rPr>
              <a:t>每条数据都写清来源与「是否已核实」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22960" y="3730752"/>
            <a:ext cx="10545775" cy="512064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24128" y="3858768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200" b="1">
                <a:solidFill>
                  <a:srgbClr val="14385C"/>
                </a:solidFill>
                <a:latin typeface="微软雅黑"/>
              </a:rPr>
              <a:t>站点基础信息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523744" y="3858768"/>
            <a:ext cx="4114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100" b="0">
                <a:solidFill>
                  <a:srgbClr val="1F2937"/>
                </a:solidFill>
                <a:latin typeface="微软雅黑"/>
              </a:rPr>
              <a:t>poi_id / 名称 / 分类 / 坐标 / 地址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0" y="3858768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100" b="0">
                <a:solidFill>
                  <a:srgbClr val="5B6B7C"/>
                </a:solidFill>
                <a:latin typeface="微软雅黑"/>
              </a:rPr>
              <a:t>种子数据，坐标为校区近似值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22960" y="4297680"/>
            <a:ext cx="10545775" cy="512064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24128" y="4425696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200" b="1">
                <a:solidFill>
                  <a:srgbClr val="14385C"/>
                </a:solidFill>
                <a:latin typeface="微软雅黑"/>
              </a:rPr>
              <a:t>可达性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523744" y="4425696"/>
            <a:ext cx="4114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100" b="0">
                <a:solidFill>
                  <a:srgbClr val="1F2937"/>
                </a:solidFill>
                <a:latin typeface="微软雅黑"/>
              </a:rPr>
              <a:t>open_time / close_time / closed_weekdays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0" y="4425696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100" b="0">
                <a:solidFill>
                  <a:srgbClr val="5B6B7C"/>
                </a:solidFill>
                <a:latin typeface="微软雅黑"/>
              </a:rPr>
              <a:t>校医院 17:00 关门、博物馆周一闭馆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22960" y="4864608"/>
            <a:ext cx="10545775" cy="512064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24128" y="4992624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200" b="1">
                <a:solidFill>
                  <a:srgbClr val="14385C"/>
                </a:solidFill>
                <a:latin typeface="微软雅黑"/>
              </a:rPr>
              <a:t>花费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523744" y="4992624"/>
            <a:ext cx="4114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100" b="0">
                <a:solidFill>
                  <a:srgbClr val="1F2937"/>
                </a:solidFill>
                <a:latin typeface="微软雅黑"/>
              </a:rPr>
              <a:t>cost + cost_unit（人均 / 单次 / 每晚）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58000" y="4992624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100" b="0">
                <a:solidFill>
                  <a:srgbClr val="5B6B7C"/>
                </a:solidFill>
                <a:latin typeface="微软雅黑"/>
              </a:rPr>
              <a:t>任务书要求：费用必须有计价单位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22960" y="5431536"/>
            <a:ext cx="10545775" cy="512064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24128" y="5559552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200" b="1">
                <a:solidFill>
                  <a:srgbClr val="14385C"/>
                </a:solidFill>
                <a:latin typeface="微软雅黑"/>
              </a:rPr>
              <a:t>可信度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523744" y="5559552"/>
            <a:ext cx="4114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100" b="0">
                <a:solidFill>
                  <a:srgbClr val="1F2937"/>
                </a:solidFill>
                <a:latin typeface="微软雅黑"/>
              </a:rPr>
              <a:t>source / source_date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858000" y="5559552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100" b="0">
                <a:solidFill>
                  <a:srgbClr val="5B6B7C"/>
                </a:solidFill>
                <a:latin typeface="微软雅黑"/>
              </a:rPr>
              <a:t>未标日期的点自动进「待核实清单」上屏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20624"/>
            <a:ext cx="1054577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100" b="1">
                <a:solidFill>
                  <a:srgbClr val="C2410C"/>
                </a:solidFill>
                <a:latin typeface="微软雅黑"/>
              </a:rPr>
              <a:t>03 设计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658368"/>
            <a:ext cx="1054577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2700" b="1">
                <a:solidFill>
                  <a:srgbClr val="14385C"/>
                </a:solidFill>
                <a:latin typeface="微软雅黑"/>
              </a:rPr>
              <a:t>架构：入口 / 用例 / 引擎 / 数据，四层单向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188720"/>
            <a:ext cx="1054577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300" b="0">
                <a:solidFill>
                  <a:srgbClr val="5B6B7C"/>
                </a:solidFill>
                <a:latin typeface="微软雅黑"/>
              </a:rPr>
              <a:t>三条纪律：契约冻结、分层单向、业务数值只准写在配置里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481328"/>
            <a:ext cx="10545775" cy="12000"/>
          </a:xfrm>
          <a:prstGeom prst="rect">
            <a:avLst/>
          </a:prstGeom>
          <a:solidFill>
            <a:srgbClr val="D7DE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6272784"/>
            <a:ext cx="10545775" cy="10000"/>
          </a:xfrm>
          <a:prstGeom prst="rect">
            <a:avLst/>
          </a:prstGeom>
          <a:solidFill>
            <a:srgbClr val="D7DE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638251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000" b="0">
                <a:solidFill>
                  <a:srgbClr val="5B6B7C"/>
                </a:solidFill>
                <a:latin typeface="微软雅黑"/>
              </a:rPr>
              <a:t>AI 出行规划与行程调整助手 · 大连理工大学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88575" y="6382512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5000"/>
              </a:lnSpc>
              <a:spcAft>
                <a:spcPts val="400"/>
              </a:spcAft>
            </a:pPr>
            <a:r>
              <a:rPr sz="1000" b="0">
                <a:solidFill>
                  <a:srgbClr val="5B6B7C"/>
                </a:solidFill>
                <a:latin typeface="微软雅黑"/>
              </a:rPr>
              <a:t>04 / 12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1700784"/>
            <a:ext cx="10545775" cy="658368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2960" y="1700784"/>
            <a:ext cx="46000" cy="658368"/>
          </a:xfrm>
          <a:prstGeom prst="rect">
            <a:avLst/>
          </a:prstGeom>
          <a:solidFill>
            <a:srgbClr val="143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42416" y="1810512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200" b="1">
                <a:solidFill>
                  <a:srgbClr val="14385C"/>
                </a:solidFill>
                <a:latin typeface="微软雅黑"/>
              </a:rPr>
              <a:t>入口层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03120" y="1819656"/>
            <a:ext cx="899129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100" b="0">
                <a:solidFill>
                  <a:srgbClr val="1F2937"/>
                </a:solidFill>
                <a:latin typeface="微软雅黑"/>
              </a:rPr>
              <a:t>CLI main.py ｜ Streamlit ui/app.py ｜ 网页 api/server.py + web/index.html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" y="2468880"/>
            <a:ext cx="10545775" cy="658368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2960" y="2468880"/>
            <a:ext cx="46000" cy="658368"/>
          </a:xfrm>
          <a:prstGeom prst="rect">
            <a:avLst/>
          </a:prstGeom>
          <a:solidFill>
            <a:srgbClr val="2C5F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42416" y="2578608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200" b="1">
                <a:solidFill>
                  <a:srgbClr val="2C5F8A"/>
                </a:solidFill>
                <a:latin typeface="微软雅黑"/>
              </a:rPr>
              <a:t>用例层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03120" y="2587752"/>
            <a:ext cx="899129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100" b="0">
                <a:solidFill>
                  <a:srgbClr val="1F2937"/>
                </a:solidFill>
                <a:latin typeface="微软雅黑"/>
              </a:rPr>
              <a:t>service/usecases.py：options / build_request / plan_from_text / adjust_plan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" y="3236976"/>
            <a:ext cx="10545775" cy="1389888"/>
          </a:xfrm>
          <a:prstGeom prst="rect">
            <a:avLst/>
          </a:prstGeom>
          <a:solidFill>
            <a:srgbClr val="FFFFFF"/>
          </a:solidFill>
          <a:ln w="15240">
            <a:solidFill>
              <a:srgbClr val="2C5F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42416" y="3346704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200" b="1">
                <a:solidFill>
                  <a:srgbClr val="2C5F8A"/>
                </a:solidFill>
                <a:latin typeface="微软雅黑"/>
              </a:rPr>
              <a:t>引擎层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03120" y="3346704"/>
            <a:ext cx="89912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100" b="0">
                <a:solidFill>
                  <a:srgbClr val="1F2937"/>
                </a:solidFill>
                <a:latin typeface="微软雅黑"/>
              </a:rPr>
              <a:t>engine/planner.py 是唯一入口：选策略 → 出行程 → 校验 → 评分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42416" y="3749040"/>
            <a:ext cx="3346704" cy="731520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88720" y="3840480"/>
            <a:ext cx="3072384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100" b="1">
                <a:solidFill>
                  <a:srgbClr val="14385C"/>
                </a:solidFill>
                <a:latin typeface="微软雅黑"/>
              </a:rPr>
              <a:t>strategies.py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88720" y="4096512"/>
            <a:ext cx="307238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000" b="0">
                <a:solidFill>
                  <a:srgbClr val="5B6B7C"/>
                </a:solidFill>
                <a:latin typeface="微软雅黑"/>
              </a:rPr>
              <a:t>策略注册表：stub / random / greedy / two_opt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90288" y="3749040"/>
            <a:ext cx="3346704" cy="731520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736592" y="3840480"/>
            <a:ext cx="3072384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100" b="1">
                <a:solidFill>
                  <a:srgbClr val="14385C"/>
                </a:solidFill>
                <a:latin typeface="微软雅黑"/>
              </a:rPr>
              <a:t>constraints.py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36592" y="4096512"/>
            <a:ext cx="307238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000" b="0">
                <a:solidFill>
                  <a:srgbClr val="5B6B7C"/>
                </a:solidFill>
                <a:latin typeface="微软雅黑"/>
              </a:rPr>
              <a:t>硬约束校验 + 四维评分（可行性扣分）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138160" y="3749040"/>
            <a:ext cx="3346704" cy="731520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84464" y="3840480"/>
            <a:ext cx="3072384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100" b="1">
                <a:solidFill>
                  <a:srgbClr val="14385C"/>
                </a:solidFill>
                <a:latin typeface="微软雅黑"/>
              </a:rPr>
              <a:t>models.py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84464" y="4096512"/>
            <a:ext cx="307238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000" b="0">
                <a:solidFill>
                  <a:srgbClr val="5B6B7C"/>
                </a:solidFill>
                <a:latin typeface="微软雅黑"/>
              </a:rPr>
              <a:t>冻结契约 v1.4：字段只增不改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22960" y="4736592"/>
            <a:ext cx="10545775" cy="658368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22960" y="4736592"/>
            <a:ext cx="46000" cy="658368"/>
          </a:xfrm>
          <a:prstGeom prst="rect">
            <a:avLst/>
          </a:prstGeom>
          <a:solidFill>
            <a:srgbClr val="2C5F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42416" y="4846320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200" b="1">
                <a:solidFill>
                  <a:srgbClr val="2C5F8A"/>
                </a:solidFill>
                <a:latin typeface="微软雅黑"/>
              </a:rPr>
              <a:t>数据层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103120" y="4855464"/>
            <a:ext cx="899129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100" b="0">
                <a:solidFill>
                  <a:srgbClr val="1F2937"/>
                </a:solidFill>
                <a:latin typeface="微软雅黑"/>
              </a:rPr>
              <a:t>data/loader.py（唯一出口）→ data/cities/&lt;key&gt;/*.csv　·　城市 = 数据路由，不是 if-else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2960" y="5742432"/>
            <a:ext cx="1054577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200" b="1">
                <a:solidFill>
                  <a:srgbClr val="C2410C"/>
                </a:solidFill>
                <a:latin typeface="微软雅黑"/>
              </a:rPr>
              <a:t>换算法 = 写一个函数 + 注册一行；换场景/城市 = 改 TOML / CSV；两者都不碰其它层。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20624"/>
            <a:ext cx="1054577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100" b="1">
                <a:solidFill>
                  <a:srgbClr val="C2410C"/>
                </a:solidFill>
                <a:latin typeface="微软雅黑"/>
              </a:rPr>
              <a:t>04 实现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658368"/>
            <a:ext cx="1054577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2700" b="1">
                <a:solidFill>
                  <a:srgbClr val="14385C"/>
                </a:solidFill>
                <a:latin typeface="微软雅黑"/>
              </a:rPr>
              <a:t>算法：只在可行解里挑「此刻最划算」的一站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188720"/>
            <a:ext cx="1054577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300" b="0">
                <a:solidFill>
                  <a:srgbClr val="5B6B7C"/>
                </a:solidFill>
                <a:latin typeface="微软雅黑"/>
              </a:rPr>
              <a:t>优化什么就评什么 —— 贪心的目标函数用的是评分函数同一套权重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481328"/>
            <a:ext cx="10545775" cy="12000"/>
          </a:xfrm>
          <a:prstGeom prst="rect">
            <a:avLst/>
          </a:prstGeom>
          <a:solidFill>
            <a:srgbClr val="D7DE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6272784"/>
            <a:ext cx="10545775" cy="10000"/>
          </a:xfrm>
          <a:prstGeom prst="rect">
            <a:avLst/>
          </a:prstGeom>
          <a:solidFill>
            <a:srgbClr val="D7DE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638251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000" b="0">
                <a:solidFill>
                  <a:srgbClr val="5B6B7C"/>
                </a:solidFill>
                <a:latin typeface="微软雅黑"/>
              </a:rPr>
              <a:t>AI 出行规划与行程调整助手 · 大连理工大学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88575" y="6382512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5000"/>
              </a:lnSpc>
              <a:spcAft>
                <a:spcPts val="400"/>
              </a:spcAft>
            </a:pPr>
            <a:r>
              <a:rPr sz="1000" b="0">
                <a:solidFill>
                  <a:srgbClr val="5B6B7C"/>
                </a:solidFill>
                <a:latin typeface="微软雅黑"/>
              </a:rPr>
              <a:t>05 / 12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1700784"/>
            <a:ext cx="6492240" cy="2157984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60704" y="1883664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300" b="1">
                <a:solidFill>
                  <a:srgbClr val="14385C"/>
                </a:solidFill>
                <a:latin typeface="微软雅黑"/>
              </a:rPr>
              <a:t>贪心的净收益（每一步现算）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704" y="2267712"/>
            <a:ext cx="603504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70000"/>
              </a:lnSpc>
              <a:spcAft>
                <a:spcPts val="400"/>
              </a:spcAft>
            </a:pPr>
            <a:r>
              <a:rPr sz="1300" b="0">
                <a:solidFill>
                  <a:srgbClr val="1F2937"/>
                </a:solidFill>
                <a:latin typeface="微软雅黑"/>
              </a:rPr>
              <a:t>u = 0.45·满意度 + 0.20·(停留/可用时长)</a:t>
            </a:r>
          </a:p>
          <a:p>
            <a:pPr algn="l">
              <a:lnSpc>
                <a:spcPct val="170000"/>
              </a:lnSpc>
              <a:spcAft>
                <a:spcPts val="400"/>
              </a:spcAft>
            </a:pPr>
            <a:r>
              <a:rPr sz="1300" b="0">
                <a:solidFill>
                  <a:srgbClr val="1F2937"/>
                </a:solidFill>
                <a:latin typeface="微软雅黑"/>
              </a:rPr>
              <a:t>      − 0.25·(花费/剩余预算) − 0.20·((在途+干等)/可用时长)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704" y="3255264"/>
            <a:ext cx="6035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100" b="0">
                <a:solidFill>
                  <a:srgbClr val="5B6B7C"/>
                </a:solidFill>
                <a:latin typeface="微软雅黑"/>
              </a:rPr>
              <a:t>干等也扣分：06:30 出门却排一个 07:30 才开门的点，等于白等一小时。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26096" y="1737360"/>
            <a:ext cx="3742639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300" b="1">
                <a:solidFill>
                  <a:srgbClr val="1F2937"/>
                </a:solidFill>
                <a:latin typeface="微软雅黑"/>
              </a:rPr>
              <a:t>只在可行解里挑</a:t>
            </a:r>
          </a:p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100" b="0">
                <a:solidFill>
                  <a:srgbClr val="5B6B7C"/>
                </a:solidFill>
                <a:latin typeface="微软雅黑"/>
              </a:rPr>
              <a:t>
超预算、装不进时间窗、会在关门前走不完的候选，根本不进比较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26096" y="2359152"/>
            <a:ext cx="3742639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300" b="1">
                <a:solidFill>
                  <a:srgbClr val="1F2937"/>
                </a:solidFill>
                <a:latin typeface="微软雅黑"/>
              </a:rPr>
              <a:t>目标与评分同源</a:t>
            </a:r>
          </a:p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100" b="0">
                <a:solidFill>
                  <a:srgbClr val="5B6B7C"/>
                </a:solidFill>
                <a:latin typeface="微软雅黑"/>
              </a:rPr>
              <a:t>
不做「算法觉得更好、分数却更低」的两套口径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26096" y="2980944"/>
            <a:ext cx="3742639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300" b="1">
                <a:solidFill>
                  <a:srgbClr val="1F2937"/>
                </a:solidFill>
                <a:latin typeface="微软雅黑"/>
              </a:rPr>
              <a:t>2-opt 只改顺序</a:t>
            </a:r>
          </a:p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100" b="0">
                <a:solidFill>
                  <a:srgbClr val="5B6B7C"/>
                </a:solidFill>
                <a:latin typeface="微软雅黑"/>
              </a:rPr>
              <a:t>
硬顺序前缀（起点 / 途经点 / 必去点）不翻转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26096" y="3602736"/>
            <a:ext cx="3742639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300" b="1">
                <a:solidFill>
                  <a:srgbClr val="1F2937"/>
                </a:solidFill>
                <a:latin typeface="微软雅黑"/>
              </a:rPr>
              <a:t>预算极紧就降级</a:t>
            </a:r>
          </a:p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100" b="0">
                <a:solidFill>
                  <a:srgbClr val="5B6B7C"/>
                </a:solidFill>
                <a:latin typeface="微软雅黑"/>
              </a:rPr>
              <a:t>
放开预算重排 + 如实报 BUDGET_OVER，宁可给不完美结果也不给空行程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4133088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200" b="1">
                <a:solidFill>
                  <a:srgbClr val="14385C"/>
                </a:solidFill>
                <a:latin typeface="微软雅黑"/>
              </a:rPr>
              <a:t>6 用例平均总分（--scenario daily）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4535424"/>
            <a:ext cx="11887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100" b="1">
                <a:solidFill>
                  <a:srgbClr val="14385C"/>
                </a:solidFill>
                <a:latin typeface="微软雅黑"/>
              </a:rPr>
              <a:t>two_opt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103120" y="4544568"/>
            <a:ext cx="6766560" cy="201168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103120" y="4544568"/>
            <a:ext cx="6766560" cy="201168"/>
          </a:xfrm>
          <a:prstGeom prst="rect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979408" y="4526280"/>
            <a:ext cx="8229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100" b="1">
                <a:solidFill>
                  <a:srgbClr val="1F2937"/>
                </a:solidFill>
                <a:latin typeface="微软雅黑"/>
              </a:rPr>
              <a:t>0.5835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4901184"/>
            <a:ext cx="11887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100" b="0">
                <a:solidFill>
                  <a:srgbClr val="5B6B7C"/>
                </a:solidFill>
                <a:latin typeface="微软雅黑"/>
              </a:rPr>
              <a:t>greedy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103120" y="4910328"/>
            <a:ext cx="6766560" cy="201168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103120" y="4910328"/>
            <a:ext cx="6748005" cy="201168"/>
          </a:xfrm>
          <a:prstGeom prst="rect">
            <a:avLst/>
          </a:prstGeom>
          <a:solidFill>
            <a:srgbClr val="2C5F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979408" y="4892040"/>
            <a:ext cx="8229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100" b="0">
                <a:solidFill>
                  <a:srgbClr val="1F2937"/>
                </a:solidFill>
                <a:latin typeface="微软雅黑"/>
              </a:rPr>
              <a:t>0.5819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" y="5266944"/>
            <a:ext cx="11887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100" b="0">
                <a:solidFill>
                  <a:srgbClr val="5B6B7C"/>
                </a:solidFill>
                <a:latin typeface="微软雅黑"/>
              </a:rPr>
              <a:t>stub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103120" y="5276088"/>
            <a:ext cx="6766560" cy="201168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2103120" y="5276088"/>
            <a:ext cx="5806369" cy="201168"/>
          </a:xfrm>
          <a:prstGeom prst="rect">
            <a:avLst/>
          </a:prstGeom>
          <a:solidFill>
            <a:srgbClr val="2C5F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979408" y="5257800"/>
            <a:ext cx="8229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100" b="0">
                <a:solidFill>
                  <a:srgbClr val="1F2937"/>
                </a:solidFill>
                <a:latin typeface="微软雅黑"/>
              </a:rPr>
              <a:t>0.5007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" y="5632704"/>
            <a:ext cx="11887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100" b="0">
                <a:solidFill>
                  <a:srgbClr val="5B6B7C"/>
                </a:solidFill>
                <a:latin typeface="微软雅黑"/>
              </a:rPr>
              <a:t>random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103120" y="5641848"/>
            <a:ext cx="6766560" cy="201168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2103120" y="5641848"/>
            <a:ext cx="5744908" cy="201168"/>
          </a:xfrm>
          <a:prstGeom prst="rect">
            <a:avLst/>
          </a:prstGeom>
          <a:solidFill>
            <a:srgbClr val="2C5F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979408" y="5623560"/>
            <a:ext cx="8229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100" b="0">
                <a:solidFill>
                  <a:srgbClr val="1F2937"/>
                </a:solidFill>
                <a:latin typeface="微软雅黑"/>
              </a:rPr>
              <a:t>0.4954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966960" y="4133088"/>
            <a:ext cx="2194560" cy="1298448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186416" y="4297680"/>
            <a:ext cx="1828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3000" b="1">
                <a:solidFill>
                  <a:srgbClr val="14385C"/>
                </a:solidFill>
                <a:latin typeface="微软雅黑"/>
              </a:rPr>
              <a:t>+17.8%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186416" y="4864608"/>
            <a:ext cx="18288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200" b="1">
                <a:solidFill>
                  <a:srgbClr val="1F2937"/>
                </a:solidFill>
                <a:latin typeface="微软雅黑"/>
              </a:rPr>
              <a:t>真算法 vs 随机基线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186416" y="5102352"/>
            <a:ext cx="18288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000" b="0">
                <a:solidFill>
                  <a:srgbClr val="5B6B7C"/>
                </a:solidFill>
                <a:latin typeface="微软雅黑"/>
              </a:rPr>
              <a:t>two_opt 0.5835 / random 0.4954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20624"/>
            <a:ext cx="1054577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100" b="1">
                <a:solidFill>
                  <a:srgbClr val="C2410C"/>
                </a:solidFill>
                <a:latin typeface="微软雅黑"/>
              </a:rPr>
              <a:t>05 界面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658368"/>
            <a:ext cx="1054577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2700" b="1">
                <a:solidFill>
                  <a:srgbClr val="14385C"/>
                </a:solidFill>
                <a:latin typeface="微软雅黑"/>
              </a:rPr>
              <a:t>四个页签：行程表 / 时间轴 / 地图 / 算法对比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188720"/>
            <a:ext cx="1054577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300" b="0">
                <a:solidFill>
                  <a:srgbClr val="5B6B7C"/>
                </a:solidFill>
                <a:latin typeface="微软雅黑"/>
              </a:rPr>
              <a:t>全部离线渲染，断网也能演示；截图来自真实接口返回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481328"/>
            <a:ext cx="10545775" cy="12000"/>
          </a:xfrm>
          <a:prstGeom prst="rect">
            <a:avLst/>
          </a:prstGeom>
          <a:solidFill>
            <a:srgbClr val="D7DE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6272784"/>
            <a:ext cx="10545775" cy="10000"/>
          </a:xfrm>
          <a:prstGeom prst="rect">
            <a:avLst/>
          </a:prstGeom>
          <a:solidFill>
            <a:srgbClr val="D7DE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638251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000" b="0">
                <a:solidFill>
                  <a:srgbClr val="5B6B7C"/>
                </a:solidFill>
                <a:latin typeface="微软雅黑"/>
              </a:rPr>
              <a:t>AI 出行规划与行程调整助手 · 大连理工大学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88575" y="6382512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5000"/>
              </a:lnSpc>
              <a:spcAft>
                <a:spcPts val="400"/>
              </a:spcAft>
            </a:pPr>
            <a:r>
              <a:rPr sz="1000" b="0">
                <a:solidFill>
                  <a:srgbClr val="5B6B7C"/>
                </a:solidFill>
                <a:latin typeface="微软雅黑"/>
              </a:rPr>
              <a:t>06 / 12</a:t>
            </a:r>
          </a:p>
        </p:txBody>
      </p:sp>
      <p:pic>
        <p:nvPicPr>
          <p:cNvPr id="9" name="Picture 8" descr="ui-che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700784"/>
            <a:ext cx="2337816" cy="41605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3435096" y="1792224"/>
            <a:ext cx="7933639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200" b="1">
                <a:solidFill>
                  <a:srgbClr val="1F2937"/>
                </a:solidFill>
                <a:latin typeface="微软雅黑"/>
              </a:rPr>
              <a:t>行程表</a:t>
            </a:r>
          </a:p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000" b="0">
                <a:solidFill>
                  <a:srgbClr val="5B6B7C"/>
                </a:solidFill>
                <a:latin typeface="微软雅黑"/>
              </a:rPr>
              <a:t>
每站：到达–离开、停留、花费、交通方式、一句理由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35096" y="2414016"/>
            <a:ext cx="7933639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200" b="1">
                <a:solidFill>
                  <a:srgbClr val="1F2937"/>
                </a:solidFill>
                <a:latin typeface="微软雅黑"/>
              </a:rPr>
              <a:t>时间轴</a:t>
            </a:r>
          </a:p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000" b="0">
                <a:solidFill>
                  <a:srgbClr val="5B6B7C"/>
                </a:solidFill>
                <a:latin typeface="微软雅黑"/>
              </a:rPr>
              <a:t>
蓝=停留 灰=在途 橙=等开门；横轴是真实整点，空白就是空闲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35096" y="3035808"/>
            <a:ext cx="7933639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200" b="1">
                <a:solidFill>
                  <a:srgbClr val="1F2937"/>
                </a:solidFill>
                <a:latin typeface="微软雅黑"/>
              </a:rPr>
              <a:t>地图</a:t>
            </a:r>
          </a:p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000" b="0">
                <a:solidFill>
                  <a:srgbClr val="5B6B7C"/>
                </a:solidFill>
                <a:latin typeface="微软雅黑"/>
              </a:rPr>
              <a:t>
等距投影 + 按纬度压缩经度；多天分色，站名自动避让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35096" y="3657600"/>
            <a:ext cx="7933639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200" b="1">
                <a:solidFill>
                  <a:srgbClr val="1F2937"/>
                </a:solidFill>
                <a:latin typeface="微软雅黑"/>
              </a:rPr>
              <a:t>算法对比</a:t>
            </a:r>
          </a:p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000" b="0">
                <a:solidFill>
                  <a:srgbClr val="5B6B7C"/>
                </a:solidFill>
                <a:latin typeface="微软雅黑"/>
              </a:rPr>
              <a:t>
结论句 + 最优行 ★ + 以本次最高分为满格的条形图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20624"/>
            <a:ext cx="1054577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100" b="1">
                <a:solidFill>
                  <a:srgbClr val="C2410C"/>
                </a:solidFill>
                <a:latin typeface="微软雅黑"/>
              </a:rPr>
              <a:t>06 对照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658368"/>
            <a:ext cx="1054577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2700" b="1">
                <a:solidFill>
                  <a:srgbClr val="14385C"/>
                </a:solidFill>
                <a:latin typeface="微软雅黑"/>
              </a:rPr>
              <a:t>两个必演示的场景：两日行程、闭馆 / 晚到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188720"/>
            <a:ext cx="1054577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300" b="0">
                <a:solidFill>
                  <a:srgbClr val="5B6B7C"/>
                </a:solidFill>
                <a:latin typeface="微软雅黑"/>
              </a:rPr>
              <a:t>任务书明确要求：必须做两日行程与闭馆晚到的对照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481328"/>
            <a:ext cx="10545775" cy="12000"/>
          </a:xfrm>
          <a:prstGeom prst="rect">
            <a:avLst/>
          </a:prstGeom>
          <a:solidFill>
            <a:srgbClr val="D7DE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6272784"/>
            <a:ext cx="10545775" cy="10000"/>
          </a:xfrm>
          <a:prstGeom prst="rect">
            <a:avLst/>
          </a:prstGeom>
          <a:solidFill>
            <a:srgbClr val="D7DE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638251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000" b="0">
                <a:solidFill>
                  <a:srgbClr val="5B6B7C"/>
                </a:solidFill>
                <a:latin typeface="微软雅黑"/>
              </a:rPr>
              <a:t>AI 出行规划与行程调整助手 · 大连理工大学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88575" y="6382512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5000"/>
              </a:lnSpc>
              <a:spcAft>
                <a:spcPts val="400"/>
              </a:spcAft>
            </a:pPr>
            <a:r>
              <a:rPr sz="1000" b="0">
                <a:solidFill>
                  <a:srgbClr val="5B6B7C"/>
                </a:solidFill>
                <a:latin typeface="微软雅黑"/>
              </a:rPr>
              <a:t>07 / 12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1700784"/>
            <a:ext cx="5212080" cy="3931920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78992" y="1901952"/>
            <a:ext cx="4754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500" b="1">
                <a:solidFill>
                  <a:srgbClr val="14385C"/>
                </a:solidFill>
                <a:latin typeface="微软雅黑"/>
              </a:rPr>
              <a:t>两日行程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992" y="2304288"/>
            <a:ext cx="46634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200" b="1">
                <a:solidFill>
                  <a:srgbClr val="1F2937"/>
                </a:solidFill>
                <a:latin typeface="微软雅黑"/>
              </a:rPr>
              <a:t>切段排程</a:t>
            </a:r>
          </a:p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000" b="0">
                <a:solidFill>
                  <a:srgbClr val="5B6B7C"/>
                </a:solidFill>
                <a:latin typeface="微软雅黑"/>
              </a:rPr>
              <a:t>
每天独立铺时间轴，不被跨天重复选中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8992" y="2926080"/>
            <a:ext cx="46634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200" b="1">
                <a:solidFill>
                  <a:srgbClr val="1F2937"/>
                </a:solidFill>
                <a:latin typeface="微软雅黑"/>
              </a:rPr>
              <a:t>地图分色</a:t>
            </a:r>
          </a:p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000" b="0">
                <a:solidFill>
                  <a:srgbClr val="5B6B7C"/>
                </a:solidFill>
                <a:latin typeface="微软雅黑"/>
              </a:rPr>
              <a:t>
第 1 / 第 2 天两种颜色，圆点序号是当天序号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8992" y="3547872"/>
            <a:ext cx="46634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200" b="1">
                <a:solidFill>
                  <a:srgbClr val="1F2937"/>
                </a:solidFill>
                <a:latin typeface="微软雅黑"/>
              </a:rPr>
              <a:t>预算折日均</a:t>
            </a:r>
          </a:p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000" b="0">
                <a:solidFill>
                  <a:srgbClr val="5B6B7C"/>
                </a:solidFill>
                <a:latin typeface="微软雅黑"/>
              </a:rPr>
              <a:t>
两天花掉 2 倍日均预算不再被判超支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09360" y="1700784"/>
            <a:ext cx="5059375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65392" y="1901952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500" b="1">
                <a:solidFill>
                  <a:srgbClr val="14385C"/>
                </a:solidFill>
                <a:latin typeface="微软雅黑"/>
              </a:rPr>
              <a:t>闭馆 / 晚到：从「排完报错」到「排前跳过」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65392" y="2340864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100" b="1">
                <a:solidFill>
                  <a:srgbClr val="C2410C"/>
                </a:solidFill>
                <a:latin typeface="微软雅黑"/>
              </a:rPr>
              <a:t>以前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98080" y="2340864"/>
            <a:ext cx="332201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400"/>
              </a:spcAft>
            </a:pPr>
            <a:r>
              <a:rPr sz="1100" b="0">
                <a:solidFill>
                  <a:srgbClr val="5B6B7C"/>
                </a:solidFill>
                <a:latin typeface="微软雅黑"/>
              </a:rPr>
              <a:t>16:50 出发 → 把 17:00 关门的校医院排进去 → 再报 CLOSED（自相矛盾）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65392" y="3054096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100" b="1">
                <a:solidFill>
                  <a:srgbClr val="14385C"/>
                </a:solidFill>
                <a:latin typeface="微软雅黑"/>
              </a:rPr>
              <a:t>现在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80" y="3054096"/>
            <a:ext cx="332201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400"/>
              </a:spcAft>
            </a:pPr>
            <a:r>
              <a:rPr sz="1100" b="0">
                <a:solidFill>
                  <a:srgbClr val="1F2937"/>
                </a:solidFill>
                <a:latin typeface="微软雅黑"/>
              </a:rPr>
              <a:t>离开时会过关门时刻 → 直接跳过这一站，换下一家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65392" y="3767328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100" b="1">
                <a:solidFill>
                  <a:srgbClr val="14385C"/>
                </a:solidFill>
                <a:latin typeface="微软雅黑"/>
              </a:rPr>
              <a:t>闭馆日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98080" y="3767328"/>
            <a:ext cx="332201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400"/>
              </a:spcAft>
            </a:pPr>
            <a:r>
              <a:rPr sz="1100" b="0">
                <a:solidFill>
                  <a:srgbClr val="1F2937"/>
                </a:solidFill>
                <a:latin typeface="微软雅黑"/>
              </a:rPr>
              <a:t>候选池按 date 的星期排除（周一闭馆的博物馆不进池）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65392" y="4480560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100" b="1">
                <a:solidFill>
                  <a:srgbClr val="14385C"/>
                </a:solidFill>
                <a:latin typeface="微软雅黑"/>
              </a:rPr>
              <a:t>早到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98080" y="4480560"/>
            <a:ext cx="332201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400"/>
              </a:spcAft>
            </a:pPr>
            <a:r>
              <a:rPr sz="1100" b="0">
                <a:solidFill>
                  <a:srgbClr val="1F2937"/>
                </a:solidFill>
                <a:latin typeface="微软雅黑"/>
              </a:rPr>
              <a:t>等开门写成橙色等待段，不再伪装成「在路上走了很久」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65392" y="5212080"/>
            <a:ext cx="423641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000" b="0">
                <a:solidFill>
                  <a:srgbClr val="5B6B7C"/>
                </a:solidFill>
                <a:latin typeface="微软雅黑"/>
              </a:rPr>
              <a:t>命令：16:50 出发 + 关心「看病/邮政」→ 结果里没有校医院，也没有 CLOSED。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20624"/>
            <a:ext cx="1054577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100" b="1">
                <a:solidFill>
                  <a:srgbClr val="C2410C"/>
                </a:solidFill>
                <a:latin typeface="微软雅黑"/>
              </a:rPr>
              <a:t>07 诚实性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658368"/>
            <a:ext cx="1054577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2700" b="1">
                <a:solidFill>
                  <a:srgbClr val="14385C"/>
                </a:solidFill>
                <a:latin typeface="微软雅黑"/>
              </a:rPr>
              <a:t>可解释不是一句漂亮话，是三处「如实说」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188720"/>
            <a:ext cx="1054577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300" b="0">
                <a:solidFill>
                  <a:srgbClr val="5B6B7C"/>
                </a:solidFill>
                <a:latin typeface="微软雅黑"/>
              </a:rPr>
              <a:t>哪些数据没核实、哪些时间是估算、哪些约束没满足，都由应用自己说出来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481328"/>
            <a:ext cx="10545775" cy="12000"/>
          </a:xfrm>
          <a:prstGeom prst="rect">
            <a:avLst/>
          </a:prstGeom>
          <a:solidFill>
            <a:srgbClr val="D7DE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6272784"/>
            <a:ext cx="10545775" cy="10000"/>
          </a:xfrm>
          <a:prstGeom prst="rect">
            <a:avLst/>
          </a:prstGeom>
          <a:solidFill>
            <a:srgbClr val="D7DE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638251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000" b="0">
                <a:solidFill>
                  <a:srgbClr val="5B6B7C"/>
                </a:solidFill>
                <a:latin typeface="微软雅黑"/>
              </a:rPr>
              <a:t>AI 出行规划与行程调整助手 · 大连理工大学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88575" y="6382512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5000"/>
              </a:lnSpc>
              <a:spcAft>
                <a:spcPts val="400"/>
              </a:spcAft>
            </a:pPr>
            <a:r>
              <a:rPr sz="1000" b="0">
                <a:solidFill>
                  <a:srgbClr val="5B6B7C"/>
                </a:solidFill>
                <a:latin typeface="微软雅黑"/>
              </a:rPr>
              <a:t>08 / 12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1700784"/>
            <a:ext cx="3529584" cy="2139696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60704" y="1920240"/>
            <a:ext cx="30723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400" b="1">
                <a:solidFill>
                  <a:srgbClr val="14385C"/>
                </a:solidFill>
                <a:latin typeface="微软雅黑"/>
              </a:rPr>
              <a:t>待核实清单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704" y="2286000"/>
            <a:ext cx="3072384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000" b="1">
                <a:solidFill>
                  <a:srgbClr val="C2410C"/>
                </a:solidFill>
                <a:latin typeface="微软雅黑"/>
              </a:rPr>
              <a:t>meta.pending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704" y="2633472"/>
            <a:ext cx="3072384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5000"/>
              </a:lnSpc>
              <a:spcAft>
                <a:spcPts val="400"/>
              </a:spcAft>
            </a:pPr>
            <a:r>
              <a:rPr sz="1100" b="0">
                <a:solidFill>
                  <a:srgbClr val="1F2937"/>
                </a:solidFill>
                <a:latin typeface="微软雅黑"/>
              </a:rPr>
              <a:t>数据里没标来源适用日期的站点逐条列出，界面上写「待核实 N 项」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0" y="1700784"/>
            <a:ext cx="3529584" cy="2139696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09744" y="1920240"/>
            <a:ext cx="30723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400" b="1">
                <a:solidFill>
                  <a:srgbClr val="14385C"/>
                </a:solidFill>
                <a:latin typeface="微软雅黑"/>
              </a:rPr>
              <a:t>数据覆盖度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09744" y="2286000"/>
            <a:ext cx="3072384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000" b="1">
                <a:solidFill>
                  <a:srgbClr val="C2410C"/>
                </a:solidFill>
                <a:latin typeface="微软雅黑"/>
              </a:rPr>
              <a:t>meta.data.matrix_edges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09744" y="2633472"/>
            <a:ext cx="3072384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5000"/>
              </a:lnSpc>
              <a:spcAft>
                <a:spcPts val="400"/>
              </a:spcAft>
            </a:pPr>
            <a:r>
              <a:rPr sz="1100" b="0">
                <a:solidFill>
                  <a:srgbClr val="1F2937"/>
                </a:solidFill>
                <a:latin typeface="微软雅黑"/>
              </a:rPr>
              <a:t>有实测路网就报条数；没有就直说「在途全部按直线估算」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321040" y="1700784"/>
            <a:ext cx="3529584" cy="2139696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58784" y="1920240"/>
            <a:ext cx="30723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400" b="1">
                <a:solidFill>
                  <a:srgbClr val="14385C"/>
                </a:solidFill>
                <a:latin typeface="微软雅黑"/>
              </a:rPr>
              <a:t>约束未满足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58784" y="2286000"/>
            <a:ext cx="3072384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000" b="1">
                <a:solidFill>
                  <a:srgbClr val="C2410C"/>
                </a:solidFill>
                <a:latin typeface="微软雅黑"/>
              </a:rPr>
              <a:t>warnings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58784" y="2633472"/>
            <a:ext cx="3072384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5000"/>
              </a:lnSpc>
              <a:spcAft>
                <a:spcPts val="400"/>
              </a:spcAft>
            </a:pPr>
            <a:r>
              <a:rPr sz="1100" b="0">
                <a:solidFill>
                  <a:srgbClr val="1F2937"/>
                </a:solidFill>
                <a:latin typeface="微软雅黑"/>
              </a:rPr>
              <a:t>BUDGET_OVER / MUST_VISIT_MISS / NO_CANDIDATE… 写具体数值，不写「综合评分低」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2960" y="4096512"/>
            <a:ext cx="10545775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0704" y="4261104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300" b="1">
                <a:solidFill>
                  <a:srgbClr val="14385C"/>
                </a:solidFill>
                <a:latin typeface="微软雅黑"/>
              </a:rPr>
              <a:t>降级链：任何一环坏掉都不许崩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704" y="4645152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100" b="0">
                <a:solidFill>
                  <a:srgbClr val="1F2937"/>
                </a:solidFill>
                <a:latin typeface="微软雅黑"/>
              </a:rPr>
              <a:t>· 城市未注册 → 回退默认数据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901184" y="4645152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100" b="0">
                <a:solidFill>
                  <a:srgbClr val="1F2937"/>
                </a:solidFill>
                <a:latin typeface="微软雅黑"/>
              </a:rPr>
              <a:t>· 无矩阵 → 全估算并报 0 条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0704" y="5047488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100" b="0">
                <a:solidFill>
                  <a:srgbClr val="1F2937"/>
                </a:solidFill>
                <a:latin typeface="微软雅黑"/>
              </a:rPr>
              <a:t>· CSV 编码错 → 换编码重试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901184" y="5047488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100" b="0">
                <a:solidFill>
                  <a:srgbClr val="1F2937"/>
                </a:solidFill>
                <a:latin typeface="微软雅黑"/>
              </a:rPr>
              <a:t>· 实时接口失败 → 不重排不报错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0704" y="5449824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100" b="0">
                <a:solidFill>
                  <a:srgbClr val="1F2937"/>
                </a:solidFill>
                <a:latin typeface="微软雅黑"/>
              </a:rPr>
              <a:t>· 模型不可用 → 规则模板解说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901184" y="5449824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100" b="0">
                <a:solidFill>
                  <a:srgbClr val="1F2937"/>
                </a:solidFill>
                <a:latin typeface="微软雅黑"/>
              </a:rPr>
              <a:t>· 候选被过滤光 → 放宽到全部点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20624"/>
            <a:ext cx="1054577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100" b="1">
                <a:solidFill>
                  <a:srgbClr val="C2410C"/>
                </a:solidFill>
                <a:latin typeface="微软雅黑"/>
              </a:rPr>
              <a:t>08 验证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658368"/>
            <a:ext cx="1054577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2700" b="1">
                <a:solidFill>
                  <a:srgbClr val="14385C"/>
                </a:solidFill>
                <a:latin typeface="微软雅黑"/>
              </a:rPr>
              <a:t>验证：210 个测试 + 可复现的对照实验 + 64 条验收项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188720"/>
            <a:ext cx="1054577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300" b="0">
                <a:solidFill>
                  <a:srgbClr val="5B6B7C"/>
                </a:solidFill>
                <a:latin typeface="微软雅黑"/>
              </a:rPr>
              <a:t>结论必须能被别人一键复现，否则只是「我觉得挺好」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481328"/>
            <a:ext cx="10545775" cy="12000"/>
          </a:xfrm>
          <a:prstGeom prst="rect">
            <a:avLst/>
          </a:prstGeom>
          <a:solidFill>
            <a:srgbClr val="D7DE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6272784"/>
            <a:ext cx="10545775" cy="10000"/>
          </a:xfrm>
          <a:prstGeom prst="rect">
            <a:avLst/>
          </a:prstGeom>
          <a:solidFill>
            <a:srgbClr val="D7DE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638251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000" b="0">
                <a:solidFill>
                  <a:srgbClr val="5B6B7C"/>
                </a:solidFill>
                <a:latin typeface="微软雅黑"/>
              </a:rPr>
              <a:t>AI 出行规划与行程调整助手 · 大连理工大学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88575" y="6382512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5000"/>
              </a:lnSpc>
              <a:spcAft>
                <a:spcPts val="400"/>
              </a:spcAft>
            </a:pPr>
            <a:r>
              <a:rPr sz="1000" b="0">
                <a:solidFill>
                  <a:srgbClr val="5B6B7C"/>
                </a:solidFill>
                <a:latin typeface="微软雅黑"/>
              </a:rPr>
              <a:t>09 / 12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1700784"/>
            <a:ext cx="2615184" cy="1298448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42416" y="1865376"/>
            <a:ext cx="224942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3000" b="1">
                <a:solidFill>
                  <a:srgbClr val="14385C"/>
                </a:solidFill>
                <a:latin typeface="微软雅黑"/>
              </a:rPr>
              <a:t>210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42416" y="2432304"/>
            <a:ext cx="224942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200" b="1">
                <a:solidFill>
                  <a:srgbClr val="1F2937"/>
                </a:solidFill>
                <a:latin typeface="微软雅黑"/>
              </a:rPr>
              <a:t>个单元/集成测试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42416" y="2670048"/>
            <a:ext cx="224942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000" b="0">
                <a:solidFill>
                  <a:srgbClr val="5B6B7C"/>
                </a:solidFill>
                <a:latin typeface="微软雅黑"/>
              </a:rPr>
              <a:t>标准库 unittest，零依赖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0" y="1700784"/>
            <a:ext cx="2615184" cy="1298448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877056" y="1865376"/>
            <a:ext cx="224942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3000" b="1">
                <a:solidFill>
                  <a:srgbClr val="14385C"/>
                </a:solidFill>
                <a:latin typeface="微软雅黑"/>
              </a:rPr>
              <a:t>64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77056" y="2432304"/>
            <a:ext cx="224942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200" b="1">
                <a:solidFill>
                  <a:srgbClr val="1F2937"/>
                </a:solidFill>
                <a:latin typeface="微软雅黑"/>
              </a:rPr>
              <a:t>条验收项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77056" y="2670048"/>
            <a:ext cx="224942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000" b="0">
                <a:solidFill>
                  <a:srgbClr val="5B6B7C"/>
                </a:solidFill>
                <a:latin typeface="微软雅黑"/>
              </a:rPr>
              <a:t>每条含动作 + 期望 + 修法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92240" y="1700784"/>
            <a:ext cx="2615184" cy="1298448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711696" y="1865376"/>
            <a:ext cx="224942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3000" b="1">
                <a:solidFill>
                  <a:srgbClr val="14385C"/>
                </a:solidFill>
                <a:latin typeface="微软雅黑"/>
              </a:rPr>
              <a:t>13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11696" y="2432304"/>
            <a:ext cx="224942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200" b="1">
                <a:solidFill>
                  <a:srgbClr val="1F2937"/>
                </a:solidFill>
                <a:latin typeface="微软雅黑"/>
              </a:rPr>
              <a:t>项前端自动断言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11696" y="2670048"/>
            <a:ext cx="224942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000" b="0">
                <a:solidFill>
                  <a:srgbClr val="5B6B7C"/>
                </a:solidFill>
                <a:latin typeface="微软雅黑"/>
              </a:rPr>
              <a:t>DOM 桩跑网页脚本，不用开浏览器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326880" y="1700784"/>
            <a:ext cx="2862072" cy="1298448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546336" y="1865376"/>
            <a:ext cx="249631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3000" b="1">
                <a:solidFill>
                  <a:srgbClr val="14385C"/>
                </a:solidFill>
                <a:latin typeface="微软雅黑"/>
              </a:rPr>
              <a:t>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546336" y="2432304"/>
            <a:ext cx="2496312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200" b="1">
                <a:solidFill>
                  <a:srgbClr val="1F2937"/>
                </a:solidFill>
                <a:latin typeface="微软雅黑"/>
              </a:rPr>
              <a:t>字节差异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546336" y="2670048"/>
            <a:ext cx="2496312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000" b="0">
                <a:solidFill>
                  <a:srgbClr val="5B6B7C"/>
                </a:solidFill>
                <a:latin typeface="微软雅黑"/>
              </a:rPr>
              <a:t>同一输入两次评测逐字节一致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3310128"/>
            <a:ext cx="1054577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300" b="1">
                <a:solidFill>
                  <a:srgbClr val="14385C"/>
                </a:solidFill>
                <a:latin typeface="微软雅黑"/>
              </a:rPr>
              <a:t>三条命令复现全部结论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22960" y="3694176"/>
            <a:ext cx="7436815" cy="475488"/>
          </a:xfrm>
          <a:prstGeom prst="rect">
            <a:avLst/>
          </a:prstGeom>
          <a:solidFill>
            <a:srgbClr val="1E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87552" y="3822192"/>
            <a:ext cx="707105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100" b="0">
                <a:solidFill>
                  <a:srgbClr val="E2E8F0"/>
                </a:solidFill>
                <a:latin typeface="Consolas"/>
              </a:rPr>
              <a:t>.venv\Scripts\python.exe -m unittest discover -s tests -t 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34095" y="3822192"/>
            <a:ext cx="2834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100" b="0">
                <a:solidFill>
                  <a:srgbClr val="5B6B7C"/>
                </a:solidFill>
                <a:latin typeface="微软雅黑"/>
              </a:rPr>
              <a:t>210 个测试全绿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22960" y="4297680"/>
            <a:ext cx="7436815" cy="475488"/>
          </a:xfrm>
          <a:prstGeom prst="rect">
            <a:avLst/>
          </a:prstGeom>
          <a:solidFill>
            <a:srgbClr val="1E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87552" y="4425696"/>
            <a:ext cx="707105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100" b="0">
                <a:solidFill>
                  <a:srgbClr val="E2E8F0"/>
                </a:solidFill>
                <a:latin typeface="Consolas"/>
              </a:rPr>
              <a:t>.venv\Scripts\python.exe -m eval.baseline --scenario daily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34095" y="4425696"/>
            <a:ext cx="2834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100" b="0">
                <a:solidFill>
                  <a:srgbClr val="5B6B7C"/>
                </a:solidFill>
                <a:latin typeface="微软雅黑"/>
              </a:rPr>
              <a:t>6 用例 × 4 策略对照表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22960" y="4901184"/>
            <a:ext cx="7436815" cy="475488"/>
          </a:xfrm>
          <a:prstGeom prst="rect">
            <a:avLst/>
          </a:prstGeom>
          <a:solidFill>
            <a:srgbClr val="1E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87552" y="5029200"/>
            <a:ext cx="707105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100" b="0">
                <a:solidFill>
                  <a:srgbClr val="E2E8F0"/>
                </a:solidFill>
                <a:latin typeface="Consolas"/>
              </a:rPr>
              <a:t>node _render_check.js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34095" y="5029200"/>
            <a:ext cx="2834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100" b="0">
                <a:solidFill>
                  <a:srgbClr val="5B6B7C"/>
                </a:solidFill>
                <a:latin typeface="微软雅黑"/>
              </a:rPr>
              <a:t>前端 13 项断言 + 静态预览页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20624"/>
            <a:ext cx="1054577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100" b="1">
                <a:solidFill>
                  <a:srgbClr val="C2410C"/>
                </a:solidFill>
                <a:latin typeface="微软雅黑"/>
              </a:rPr>
              <a:t>09 局限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658368"/>
            <a:ext cx="1054577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2700" b="1">
                <a:solidFill>
                  <a:srgbClr val="14385C"/>
                </a:solidFill>
                <a:latin typeface="微软雅黑"/>
              </a:rPr>
              <a:t>局限：我们没做到的部分，说清楚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188720"/>
            <a:ext cx="1054577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300" b="0">
                <a:solidFill>
                  <a:srgbClr val="5B6B7C"/>
                </a:solidFill>
                <a:latin typeface="微软雅黑"/>
              </a:rPr>
              <a:t>这一页是加分项：知道自己错在哪，比声称「全都能做」更可信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481328"/>
            <a:ext cx="10545775" cy="12000"/>
          </a:xfrm>
          <a:prstGeom prst="rect">
            <a:avLst/>
          </a:prstGeom>
          <a:solidFill>
            <a:srgbClr val="D7DE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6272784"/>
            <a:ext cx="10545775" cy="10000"/>
          </a:xfrm>
          <a:prstGeom prst="rect">
            <a:avLst/>
          </a:prstGeom>
          <a:solidFill>
            <a:srgbClr val="D7DE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638251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000" b="0">
                <a:solidFill>
                  <a:srgbClr val="5B6B7C"/>
                </a:solidFill>
                <a:latin typeface="微软雅黑"/>
              </a:rPr>
              <a:t>AI 出行规划与行程调整助手 · 大连理工大学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88575" y="6382512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5000"/>
              </a:lnSpc>
              <a:spcAft>
                <a:spcPts val="400"/>
              </a:spcAft>
            </a:pPr>
            <a:r>
              <a:rPr sz="1000" b="0">
                <a:solidFill>
                  <a:srgbClr val="5B6B7C"/>
                </a:solidFill>
                <a:latin typeface="微软雅黑"/>
              </a:rPr>
              <a:t>10 / 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700784"/>
            <a:ext cx="1054577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300" b="1">
                <a:solidFill>
                  <a:srgbClr val="1F2937"/>
                </a:solidFill>
                <a:latin typeface="微软雅黑"/>
              </a:rPr>
              <a:t>在途时间只有 14% 是实测的</a:t>
            </a:r>
          </a:p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100" b="0">
                <a:solidFill>
                  <a:srgbClr val="5B6B7C"/>
                </a:solidFill>
                <a:latin typeface="微软雅黑"/>
              </a:rPr>
              <a:t>
145 条步行真实耗时；公交 / 驾车全部直线估算，跨校区行程误差偏大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322576"/>
            <a:ext cx="1054577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300" b="1">
                <a:solidFill>
                  <a:srgbClr val="1F2937"/>
                </a:solidFill>
                <a:latin typeface="微软雅黑"/>
              </a:rPr>
              <a:t>two_opt 相对 greedy 增益很小</a:t>
            </a:r>
          </a:p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100" b="0">
                <a:solidFill>
                  <a:srgbClr val="5B6B7C"/>
                </a:solidFill>
                <a:latin typeface="微软雅黑"/>
              </a:rPr>
              <a:t>
0.5835 vs 0.5819，6 个用例里 4 个同分 —— 数据规模太小，局部搜索没什么可优化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944368"/>
            <a:ext cx="1054577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300" b="1">
                <a:solidFill>
                  <a:srgbClr val="1F2937"/>
                </a:solidFill>
                <a:latin typeface="微软雅黑"/>
              </a:rPr>
              <a:t>关门只做「跳过」不做「改天」</a:t>
            </a:r>
          </a:p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100" b="0">
                <a:solidFill>
                  <a:srgbClr val="5B6B7C"/>
                </a:solidFill>
                <a:latin typeface="微软雅黑"/>
              </a:rPr>
              <a:t>
跨天仍是每天独立排，不把整趟当一个整体优化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566160"/>
            <a:ext cx="1054577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300" b="1">
                <a:solidFill>
                  <a:srgbClr val="1F2937"/>
                </a:solidFill>
                <a:latin typeface="微软雅黑"/>
              </a:rPr>
              <a:t>第二城市只有 12 个点、0 条路网</a:t>
            </a:r>
          </a:p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100" b="0">
                <a:solidFill>
                  <a:srgbClr val="5B6B7C"/>
                </a:solidFill>
                <a:latin typeface="微软雅黑"/>
              </a:rPr>
              <a:t>
北京只用来证明「换城市不改代码」，不用于真实出行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4187952"/>
            <a:ext cx="1054577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300" b="1">
                <a:solidFill>
                  <a:srgbClr val="1F2937"/>
                </a:solidFill>
                <a:latin typeface="微软雅黑"/>
              </a:rPr>
              <a:t>地图是离线等距投影</a:t>
            </a:r>
          </a:p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100" b="0">
                <a:solidFill>
                  <a:srgbClr val="5B6B7C"/>
                </a:solidFill>
                <a:latin typeface="微软雅黑"/>
              </a:rPr>
              <a:t>
只表示相对位置与先后顺序，不能当导航用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" y="5413248"/>
            <a:ext cx="10545775" cy="640080"/>
          </a:xfrm>
          <a:prstGeom prst="rect">
            <a:avLst/>
          </a:prstGeom>
          <a:solidFill>
            <a:srgbClr val="FB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42416" y="5541264"/>
            <a:ext cx="10088575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200" b="1">
                <a:solidFill>
                  <a:srgbClr val="C2410C"/>
                </a:solidFill>
                <a:latin typeface="微软雅黑"/>
              </a:rPr>
              <a:t>如果再给一周：接公交/骑行真实耗时 → 整趟统一优化（把多天当一个大问题）→ 真实瓦片地图。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20624"/>
            <a:ext cx="1054577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100" b="1">
                <a:solidFill>
                  <a:srgbClr val="C2410C"/>
                </a:solidFill>
                <a:latin typeface="微软雅黑"/>
              </a:rPr>
              <a:t>10 协作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658368"/>
            <a:ext cx="1054577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2700" b="1">
                <a:solidFill>
                  <a:srgbClr val="14385C"/>
                </a:solidFill>
                <a:latin typeface="微软雅黑"/>
              </a:rPr>
              <a:t>两个人怎么并行而不互相踩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188720"/>
            <a:ext cx="1054577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300" b="0">
                <a:solidFill>
                  <a:srgbClr val="5B6B7C"/>
                </a:solidFill>
                <a:latin typeface="微软雅黑"/>
              </a:rPr>
              <a:t>靠的不是默契，是三件机制：契约冻结、验收清单、结论落盘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481328"/>
            <a:ext cx="10545775" cy="12000"/>
          </a:xfrm>
          <a:prstGeom prst="rect">
            <a:avLst/>
          </a:prstGeom>
          <a:solidFill>
            <a:srgbClr val="D7DE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6272784"/>
            <a:ext cx="10545775" cy="10000"/>
          </a:xfrm>
          <a:prstGeom prst="rect">
            <a:avLst/>
          </a:prstGeom>
          <a:solidFill>
            <a:srgbClr val="D7DE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638251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000" b="0">
                <a:solidFill>
                  <a:srgbClr val="5B6B7C"/>
                </a:solidFill>
                <a:latin typeface="微软雅黑"/>
              </a:rPr>
              <a:t>AI 出行规划与行程调整助手 · 大连理工大学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88575" y="6382512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5000"/>
              </a:lnSpc>
              <a:spcAft>
                <a:spcPts val="400"/>
              </a:spcAft>
            </a:pPr>
            <a:r>
              <a:rPr sz="1000" b="0">
                <a:solidFill>
                  <a:srgbClr val="5B6B7C"/>
                </a:solidFill>
                <a:latin typeface="微软雅黑"/>
              </a:rPr>
              <a:t>11 / 12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1700784"/>
            <a:ext cx="3566160" cy="2798064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60704" y="1920240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400" b="1">
                <a:solidFill>
                  <a:srgbClr val="14385C"/>
                </a:solidFill>
                <a:latin typeface="微软雅黑"/>
              </a:rPr>
              <a:t>甲 · 引擎与数据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704" y="2359152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100" b="0">
                <a:solidFill>
                  <a:srgbClr val="1F2937"/>
                </a:solidFill>
                <a:latin typeface="微软雅黑"/>
              </a:rPr>
              <a:t>· engine/strategies.py 贪心与 2-opt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704" y="2779776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100" b="0">
                <a:solidFill>
                  <a:srgbClr val="1F2937"/>
                </a:solidFill>
                <a:latin typeface="微软雅黑"/>
              </a:rPr>
              <a:t>· constraints.py 约束与评分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704" y="3200400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100" b="0">
                <a:solidFill>
                  <a:srgbClr val="1F2937"/>
                </a:solidFill>
                <a:latin typeface="微软雅黑"/>
              </a:rPr>
              <a:t>· 数据包与 145 条实测耗时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0704" y="3621024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100" b="0">
                <a:solidFill>
                  <a:srgbClr val="1F2937"/>
                </a:solidFill>
                <a:latin typeface="微软雅黑"/>
              </a:rPr>
              <a:t>· eval 对照实验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663440" y="1700784"/>
            <a:ext cx="3566160" cy="2798064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901184" y="1920240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400" b="1">
                <a:solidFill>
                  <a:srgbClr val="2C5F8A"/>
                </a:solidFill>
                <a:latin typeface="微软雅黑"/>
              </a:rPr>
              <a:t>乙 · 交互与呈现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01184" y="2359152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100" b="0">
                <a:solidFill>
                  <a:srgbClr val="1F2937"/>
                </a:solidFill>
                <a:latin typeface="微软雅黑"/>
              </a:rPr>
              <a:t>· web/index.html 四个页签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01184" y="2779776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100" b="0">
                <a:solidFill>
                  <a:srgbClr val="1F2937"/>
                </a:solidFill>
                <a:latin typeface="微软雅黑"/>
              </a:rPr>
              <a:t>· Streamlit 界面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01184" y="3200400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100" b="0">
                <a:solidFill>
                  <a:srgbClr val="1F2937"/>
                </a:solidFill>
                <a:latin typeface="微软雅黑"/>
              </a:rPr>
              <a:t>· service/dto.py 形状转换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01184" y="3621024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100" b="0">
                <a:solidFill>
                  <a:srgbClr val="1F2937"/>
                </a:solidFill>
                <a:latin typeface="微软雅黑"/>
              </a:rPr>
              <a:t>· 报告 / PPT / 答辩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778239" y="1700784"/>
            <a:ext cx="2590496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79407" y="1810512"/>
            <a:ext cx="213329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200" b="1">
                <a:solidFill>
                  <a:srgbClr val="C2410C"/>
                </a:solidFill>
                <a:latin typeface="微软雅黑"/>
              </a:rPr>
              <a:t>契约冻结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79407" y="2084832"/>
            <a:ext cx="2133295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000" b="0">
                <a:solidFill>
                  <a:srgbClr val="5B6B7C"/>
                </a:solidFill>
                <a:latin typeface="微软雅黑"/>
              </a:rPr>
              <a:t>字段只增不改，两边同时改不打架；改契约要三方同步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778239" y="2670048"/>
            <a:ext cx="2590496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979407" y="2779776"/>
            <a:ext cx="213329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200" b="1">
                <a:solidFill>
                  <a:srgbClr val="C2410C"/>
                </a:solidFill>
                <a:latin typeface="微软雅黑"/>
              </a:rPr>
              <a:t>验收清单当合同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79407" y="3054096"/>
            <a:ext cx="2133295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000" b="0">
                <a:solidFill>
                  <a:srgbClr val="5B6B7C"/>
                </a:solidFill>
                <a:latin typeface="微软雅黑"/>
              </a:rPr>
              <a:t>64 条 AC：跑什么、期望什么、不符合怎么修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778239" y="3639312"/>
            <a:ext cx="2590496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979407" y="3749040"/>
            <a:ext cx="213329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200" b="1">
                <a:solidFill>
                  <a:srgbClr val="C2410C"/>
                </a:solidFill>
                <a:latin typeface="微软雅黑"/>
              </a:rPr>
              <a:t>结论落盘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979407" y="4023360"/>
            <a:ext cx="2133295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000" b="0">
                <a:solidFill>
                  <a:srgbClr val="5B6B7C"/>
                </a:solidFill>
                <a:latin typeface="微软雅黑"/>
              </a:rPr>
              <a:t>每个决定写进 docs/，避免「换个对话就改回去」（真的发生过 3 次）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3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847088"/>
            <a:ext cx="1054577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300" b="1">
                <a:solidFill>
                  <a:srgbClr val="A9C3DC"/>
                </a:solidFill>
                <a:latin typeface="微软雅黑"/>
              </a:rPr>
              <a:t>一句话总结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304288"/>
            <a:ext cx="10545775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微软雅黑"/>
              </a:rPr>
              <a:t>一句自然语言，换一条守住硬约束、</a:t>
            </a:r>
          </a:p>
          <a:p>
            <a:pPr algn="l">
              <a:lnSpc>
                <a:spcPct val="150000"/>
              </a:lnSpc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微软雅黑"/>
              </a:rPr>
              <a:t>逐站有理由、随时能改的行程 ——</a:t>
            </a:r>
          </a:p>
          <a:p>
            <a:pPr algn="l">
              <a:lnSpc>
                <a:spcPct val="150000"/>
              </a:lnSpc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微软雅黑"/>
              </a:rPr>
              <a:t>并且在数据不全、没网、没模型时依然可用。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4169663"/>
            <a:ext cx="1463040" cy="30000"/>
          </a:xfrm>
          <a:prstGeom prst="rect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4407408"/>
            <a:ext cx="10545775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70000"/>
              </a:lnSpc>
              <a:spcAft>
                <a:spcPts val="400"/>
              </a:spcAft>
            </a:pPr>
            <a:r>
              <a:rPr sz="1300" b="0">
                <a:solidFill>
                  <a:srgbClr val="D6E3F0"/>
                </a:solidFill>
                <a:latin typeface="微软雅黑"/>
              </a:rPr>
              <a:t>技术上最值钱的不是算法多复杂，而是把「可解释、可降级、可验收」做成了结构性约束：</a:t>
            </a:r>
          </a:p>
          <a:p>
            <a:pPr algn="l">
              <a:lnSpc>
                <a:spcPct val="170000"/>
              </a:lnSpc>
              <a:spcAft>
                <a:spcPts val="400"/>
              </a:spcAft>
            </a:pPr>
            <a:r>
              <a:rPr sz="1300" b="1">
                <a:solidFill>
                  <a:srgbClr val="D6E3F0"/>
                </a:solidFill>
                <a:latin typeface="微软雅黑"/>
              </a:rPr>
              <a:t>契约冻结 · 数值外置 · 验收清单 · 降级链 · 诚实的待核实清单。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760720"/>
            <a:ext cx="1054577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微软雅黑"/>
              </a:rPr>
              <a:t>谢谢，欢迎提问。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